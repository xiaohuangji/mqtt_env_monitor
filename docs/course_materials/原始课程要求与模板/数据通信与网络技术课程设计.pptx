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7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5F7DE-F702-4139-BF58-E623C234C4F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01719-67CF-4C2D-BFB9-028775C7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41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58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43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4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82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59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27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05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43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13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92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25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61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20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3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24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06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数据通信与网络技术课程设计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答辩PPT与演示要求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3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60520" cy="6858000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10972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0" y="1920240"/>
            <a:ext cx="320040" cy="320040"/>
          </a:xfrm>
          <a:prstGeom prst="ellipse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0" y="32004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64240" y="44805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0" y="5212080"/>
            <a:ext cx="320040" cy="320040"/>
          </a:xfrm>
          <a:prstGeom prst="ellipse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9034272" y="1261872"/>
            <a:ext cx="1737360" cy="822959"/>
          </a:xfrm>
          <a:prstGeom prst="line">
            <a:avLst/>
          </a:prstGeom>
          <a:ln w="19050">
            <a:solidFill>
              <a:srgbClr val="C8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82912" y="2084831"/>
            <a:ext cx="1280160" cy="1280161"/>
          </a:xfrm>
          <a:prstGeom prst="line">
            <a:avLst/>
          </a:prstGeom>
          <a:ln w="19050">
            <a:solidFill>
              <a:srgbClr val="C8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82912" y="3364992"/>
            <a:ext cx="1645920" cy="1280160"/>
          </a:xfrm>
          <a:prstGeom prst="line">
            <a:avLst/>
          </a:prstGeom>
          <a:ln w="19050">
            <a:solidFill>
              <a:srgbClr val="C8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759952" y="3364992"/>
            <a:ext cx="822960" cy="2011680"/>
          </a:xfrm>
          <a:prstGeom prst="line">
            <a:avLst/>
          </a:prstGeom>
          <a:ln w="19050">
            <a:solidFill>
              <a:srgbClr val="C8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143000"/>
            <a:ext cx="6675120" cy="1148007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《数据通信与网络技术》</a:t>
            </a:r>
            <a:br>
              <a:rPr dirty="0"/>
            </a:br>
            <a:r>
              <a:rPr dirty="0"/>
              <a:t>课程设计任务书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681228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700" b="0">
                <a:solidFill>
                  <a:srgbClr val="D2E1F2"/>
                </a:solidFill>
                <a:latin typeface="Microsoft YaHei"/>
              </a:defRPr>
            </a:pPr>
            <a:r>
              <a:t>2周 / 10个工作日 · 面向工程需求设计 · 过程记录 · 中期方案检查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371600" cy="3657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F4B842"/>
                </a:solidFill>
                <a:latin typeface="Microsoft YaHei"/>
              </a:defRPr>
            </a:pPr>
            <a:r>
              <a:t>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课程设计定位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从“会配置/会编程”转向“面向工程需求的网络系统设计”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2171"/>
            <a:ext cx="10515600" cy="780949"/>
          </a:xfrm>
          <a:prstGeom prst="roundRect">
            <a:avLst/>
          </a:prstGeom>
          <a:solidFill>
            <a:srgbClr val="E4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l">
              <a:defRPr sz="2200" b="1">
                <a:solidFill>
                  <a:srgbClr val="142D50"/>
                </a:solidFill>
                <a:latin typeface="Microsoft YaHei"/>
              </a:defRPr>
            </a:pPr>
            <a:r>
              <a:rPr sz="2100" dirty="0"/>
              <a:t>课程设计不是简单完成一个实验，而是完成一个可说明需求、可验证性能、可分析约束的网络通信系统。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34747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423160"/>
            <a:ext cx="347472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87752"/>
            <a:ext cx="731520" cy="4401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667A6"/>
                </a:solidFill>
                <a:latin typeface="Microsoft YaHei"/>
              </a:defRPr>
            </a:pPr>
            <a:r>
              <a:rPr dirty="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87752"/>
            <a:ext cx="274320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dirty="0"/>
              <a:t>课程知识综合应用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990088"/>
            <a:ext cx="3145536" cy="1138773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网络分层结构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路由交换与网络互联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HTTP / MQTT / TCP / UDP 等协议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PacketTracer、Wireshark 等工具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423160"/>
            <a:ext cx="34747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423160"/>
            <a:ext cx="347472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640080" cy="4401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Microsoft YaHei"/>
              </a:defRPr>
            </a:pPr>
            <a:r>
              <a:rPr dirty="0"/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87752"/>
            <a:ext cx="274320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工程能力训练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2990088"/>
            <a:ext cx="3145536" cy="1138773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需求分析与指标定义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总体方案与模块划分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协议选择与数据格式设计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测试验证与问题改进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423160"/>
            <a:ext cx="34747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2423160"/>
            <a:ext cx="347472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587752"/>
            <a:ext cx="713232" cy="4401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E76F51"/>
                </a:solidFill>
                <a:latin typeface="Microsoft YaHei"/>
              </a:defRPr>
            </a:pPr>
            <a:r>
              <a:rPr dirty="0"/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587752"/>
            <a:ext cx="274320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认证导向体现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990088"/>
            <a:ext cx="3145536" cy="1138773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复杂工程问题意识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设计依据与约束权衡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过程记录与证据链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结果评价与持续改进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课程设计目标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学生完成后应具备的主要能力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342900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73351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明确应用场景、功能需求、性能指标与约束条件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508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79" y="1508760"/>
            <a:ext cx="342900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1" y="1673351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总体设计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1" y="2075688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形成拓扑/结构图、模块划分、数据流向与接口关系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508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19" y="1508760"/>
            <a:ext cx="3429000" cy="73152"/>
          </a:xfrm>
          <a:prstGeom prst="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1" y="1673351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协议设计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075688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选择协议，比较替代方案，设计数据格式或帧结构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566160"/>
            <a:ext cx="3429000" cy="7315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7307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系统实现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133087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完成程序、硬件调试、网络配置或仿真实验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79" y="3566160"/>
            <a:ext cx="342900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1" y="37307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1" y="4133087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用抓包、日志、数据表验证功能与性能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19" y="3566160"/>
            <a:ext cx="3429000" cy="73152"/>
          </a:xfrm>
          <a:prstGeom prst="rect">
            <a:avLst/>
          </a:prstGeom>
          <a:solidFill>
            <a:srgbClr val="CC4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1" y="37307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工程分析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1" y="4133087"/>
            <a:ext cx="3099816" cy="9418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分析实时性、可靠性、安全性、成本和可扩展性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题目结构：三类任务、十六个题目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覆盖协议分析、网络规划、硬件网络应用三种训练路径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361188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73351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667A6"/>
                </a:solidFill>
                <a:latin typeface="Microsoft YaHei"/>
              </a:defRPr>
            </a:pPr>
            <a:r>
              <a:rPr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153412"/>
            <a:ext cx="3657600" cy="409343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sz="2000" dirty="0"/>
              <a:t>第一类：协议分析与仿真实验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127248"/>
            <a:ext cx="3282696" cy="126188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BGP 与 EIGRP 路由协议仿真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HTTPS + HTTP/2 协议解析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UDP 与 TCP 拥塞/流控对比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强调抓包、指标统计与原理分析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6118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673351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0580" y="2108376"/>
            <a:ext cx="3150108" cy="409343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142D50"/>
                </a:solidFill>
                <a:latin typeface="Microsoft YaHei"/>
              </a:defRPr>
            </a:lvl1pPr>
          </a:lstStyle>
          <a:p>
            <a:r>
              <a:rPr dirty="0"/>
              <a:t>第二类：企业级网络规划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127248"/>
            <a:ext cx="3282696" cy="1508105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商业综合体、医院集团、涉密专网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智慧园区、SD-WAN 连锁门店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强调拓扑、VLAN/IP、VPN、安全与 QoS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 dirty="0"/>
              <a:t>PacketTracer 完整仿真验证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508760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1508760"/>
            <a:ext cx="361188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673351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E76F51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732" y="2090087"/>
            <a:ext cx="3442716" cy="409343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sz="2000" dirty="0"/>
              <a:t>第三类：</a:t>
            </a:r>
            <a:r>
              <a:rPr sz="2000" b="1" dirty="0">
                <a:solidFill>
                  <a:srgbClr val="142D50"/>
                </a:solidFill>
                <a:latin typeface="Microsoft YaHei"/>
              </a:rPr>
              <a:t>硬件网络应用系统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127248"/>
            <a:ext cx="3282696" cy="1508105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/>
              <a:t>温湿度上传、设备借还、灯光控制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/>
              <a:t>MQTT 多节点、蓝牙/Wi-Fi 网关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/>
              <a:t>人数统计、UDP 发现、HTTP 门禁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sz="1600"/>
              <a:t>强调端到端系统实现与测试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总体任务流程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从需求到验证的完整工程闭环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971800"/>
            <a:ext cx="548640" cy="0"/>
          </a:xfrm>
          <a:prstGeom prst="line">
            <a:avLst/>
          </a:prstGeom>
          <a:ln w="2540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2971800"/>
            <a:ext cx="548641" cy="0"/>
          </a:xfrm>
          <a:prstGeom prst="line">
            <a:avLst/>
          </a:prstGeom>
          <a:ln w="2540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" y="2971800"/>
            <a:ext cx="548640" cy="0"/>
          </a:xfrm>
          <a:prstGeom prst="line">
            <a:avLst/>
          </a:prstGeom>
          <a:ln w="2540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19" y="2971800"/>
            <a:ext cx="548640" cy="0"/>
          </a:xfrm>
          <a:prstGeom prst="line">
            <a:avLst/>
          </a:prstGeom>
          <a:ln w="2540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2971800"/>
            <a:ext cx="548640" cy="0"/>
          </a:xfrm>
          <a:prstGeom prst="line">
            <a:avLst/>
          </a:prstGeom>
          <a:ln w="2540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4360" y="2331720"/>
            <a:ext cx="1097280" cy="1097280"/>
          </a:xfrm>
          <a:prstGeom prst="ellipse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场景、功能、性能、约束</a:t>
            </a:r>
          </a:p>
        </p:txBody>
      </p:sp>
      <p:sp>
        <p:nvSpPr>
          <p:cNvPr id="16" name="Oval 15"/>
          <p:cNvSpPr/>
          <p:nvPr/>
        </p:nvSpPr>
        <p:spPr>
          <a:xfrm>
            <a:off x="2468879" y="233172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总体方案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39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结构图、拓扑图、模块划分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2331720"/>
            <a:ext cx="1097280" cy="1097280"/>
          </a:xfrm>
          <a:prstGeom prst="ellipse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协议设计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协议选择、数据格式、接口/帧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2331720"/>
            <a:ext cx="1097280" cy="1097280"/>
          </a:xfrm>
          <a:prstGeom prst="ellipse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系统实现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代码、硬件、仿真、配置</a:t>
            </a:r>
          </a:p>
        </p:txBody>
      </p:sp>
      <p:sp>
        <p:nvSpPr>
          <p:cNvPr id="25" name="Oval 24"/>
          <p:cNvSpPr/>
          <p:nvPr/>
        </p:nvSpPr>
        <p:spPr>
          <a:xfrm>
            <a:off x="8092440" y="2331720"/>
            <a:ext cx="1097280" cy="10972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功能、协议、性能、异常</a:t>
            </a:r>
          </a:p>
        </p:txBody>
      </p:sp>
      <p:sp>
        <p:nvSpPr>
          <p:cNvPr id="28" name="Oval 27"/>
          <p:cNvSpPr/>
          <p:nvPr/>
        </p:nvSpPr>
        <p:spPr>
          <a:xfrm>
            <a:off x="9966960" y="2331720"/>
            <a:ext cx="1097280" cy="1097280"/>
          </a:xfrm>
          <a:prstGeom prst="ellipse">
            <a:avLst/>
          </a:prstGeom>
          <a:solidFill>
            <a:srgbClr val="CC4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611880"/>
            <a:ext cx="1737360" cy="3200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工程改进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977639"/>
            <a:ext cx="1737360" cy="82296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150" b="0">
                <a:solidFill>
                  <a:srgbClr val="5F6978"/>
                </a:solidFill>
                <a:latin typeface="Microsoft YaHei"/>
              </a:defRPr>
            </a:pPr>
            <a:r>
              <a:t>不足、约束、优化方向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623560"/>
            <a:ext cx="9966960" cy="502920"/>
          </a:xfrm>
          <a:prstGeom prst="roundRect">
            <a:avLst/>
          </a:prstGeom>
          <a:solidFill>
            <a:srgbClr val="E4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核心要求：每一步都要留下证据，包括设计图、配置、代码、日志、测试数据、抓包或截图。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10个工作日进度安排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第4或第5个工作日必须形成并检查系统整体设计方案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18488"/>
            <a:ext cx="548640" cy="292608"/>
          </a:xfrm>
          <a:prstGeom prst="round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4825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理解题目</a:t>
            </a:r>
            <a:br/>
            <a:r>
              <a:t>任务分工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48132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63239" y="1618488"/>
            <a:ext cx="548640" cy="292608"/>
          </a:xfrm>
          <a:prstGeom prst="round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04825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需求分析</a:t>
            </a:r>
            <a:br/>
            <a:r>
              <a:t>技术比较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48132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94960" y="1618488"/>
            <a:ext cx="548640" cy="29260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04825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总体方案</a:t>
            </a:r>
            <a:br/>
            <a:r>
              <a:t>数据格式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48132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26679" y="1618488"/>
            <a:ext cx="548640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04825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方案提交</a:t>
            </a:r>
            <a:br/>
            <a:r>
              <a:t>阶段检查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48132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0" y="1618488"/>
            <a:ext cx="548640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4825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核心原型</a:t>
            </a:r>
            <a:br/>
            <a:r>
              <a:t>中期调整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63016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548640" cy="292608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9709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功能完善</a:t>
            </a:r>
            <a:br/>
            <a:r>
              <a:t>系统联调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79" y="363016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063239" y="3767328"/>
            <a:ext cx="548640" cy="292608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419709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功能测试</a:t>
            </a:r>
            <a:br/>
            <a:r>
              <a:t>问题修改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363016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94960" y="3767328"/>
            <a:ext cx="548640" cy="292608"/>
          </a:xfrm>
          <a:prstGeom prst="round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19709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性能测试</a:t>
            </a:r>
            <a:br/>
            <a:r>
              <a:t>工程分析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19" y="363016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26679" y="3767328"/>
            <a:ext cx="548640" cy="292608"/>
          </a:xfrm>
          <a:prstGeom prst="round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19709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报告/PPT</a:t>
            </a:r>
            <a:br/>
            <a:r>
              <a:t>材料整理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630168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058400" y="3767328"/>
            <a:ext cx="548640" cy="292608"/>
          </a:xfrm>
          <a:prstGeom prst="round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197096"/>
            <a:ext cx="1691640" cy="6400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1">
                <a:solidFill>
                  <a:srgbClr val="142D50"/>
                </a:solidFill>
                <a:latin typeface="Microsoft YaHei"/>
              </a:defRPr>
            </a:pPr>
            <a:r>
              <a:t>答辩汇报</a:t>
            </a:r>
            <a:br/>
            <a:r>
              <a:t>成果提交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715000"/>
            <a:ext cx="10469880" cy="50292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阶段控制点：D4/D5 完成“系统整体设计方案”审查，重点检查需求、总体结构、协议选择、数据格式、测试指标。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阶段成果要求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将过程记录转化为可检查、可追溯的工程证据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516636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D1-D2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8424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题目理解记录、任务分工表、资料调研、需求分析初稿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2608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926080"/>
            <a:ext cx="516636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090672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D3-D4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9300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系统总体设计方案、拓扑/结构图、数据格式、教师检查意见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4434840"/>
            <a:ext cx="5166360" cy="7315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599431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D5-D6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00176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核心功能原型、关键代码/配置说明、联调记录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16636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1581912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D7-D8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198424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测试记录表、抓包文件、日志、性能数据、异常测试记录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2608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2926080"/>
            <a:ext cx="5166360" cy="73152"/>
          </a:xfrm>
          <a:prstGeom prst="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3090672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49300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课程设计报告初稿、PPT 初稿、附件材料整理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3484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434840"/>
            <a:ext cx="5166360" cy="73152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4599431"/>
            <a:ext cx="48371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D10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5001768"/>
            <a:ext cx="4837176" cy="4846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最终报告、代码/仿真文件、PPT、日志、测试附件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080760"/>
            <a:ext cx="9875520" cy="332399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500" b="0">
                <a:solidFill>
                  <a:srgbClr val="5F6978"/>
                </a:solidFill>
                <a:latin typeface="Microsoft YaHei"/>
              </a:defRPr>
            </a:pPr>
            <a:r>
              <a:rPr dirty="0" smtClean="0"/>
              <a:t>每组至少保留</a:t>
            </a:r>
            <a:r>
              <a:rPr dirty="0"/>
              <a:t>“原始设计—修改意见—修改后方案”的过程材料。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工程需求设计：报告与方案的第一重点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需求分析应具体、可衡量、可验证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1965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78308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2667A6"/>
                </a:solidFill>
                <a:latin typeface="Microsoft YaHei"/>
              </a:defRPr>
            </a:pPr>
            <a:r>
              <a:rPr dirty="0"/>
              <a:t>应用场景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240280"/>
            <a:ext cx="1691640" cy="963341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220" b="0">
                <a:solidFill>
                  <a:srgbClr val="232A37"/>
                </a:solidFill>
                <a:latin typeface="Microsoft YaHei"/>
              </a:defRPr>
            </a:pPr>
            <a:r>
              <a:rPr sz="1400" dirty="0"/>
              <a:t>面向校园、实验室、交通、园区、医院、商业综合体等具体场景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463040"/>
            <a:ext cx="1965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691640"/>
            <a:ext cx="178308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2A9D8F"/>
                </a:solidFill>
                <a:latin typeface="Microsoft YaHei"/>
              </a:defRPr>
            </a:pPr>
            <a:r>
              <a:t>功能需求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240280"/>
            <a:ext cx="1691640" cy="963341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220" b="0">
                <a:solidFill>
                  <a:srgbClr val="232A37"/>
                </a:solidFill>
                <a:latin typeface="Microsoft YaHei"/>
              </a:defRPr>
            </a:pPr>
            <a:r>
              <a:rPr sz="1400"/>
              <a:t>数据采集、上传、控制、查询、隔离、路由、抓包等明确功能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463040"/>
            <a:ext cx="1965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94376" y="1691640"/>
            <a:ext cx="178308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6F5AB0"/>
                </a:solidFill>
                <a:latin typeface="Microsoft YaHei"/>
              </a:defRPr>
            </a:pPr>
            <a:r>
              <a:t>性能需求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240280"/>
            <a:ext cx="1691640" cy="963341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220" b="0">
                <a:solidFill>
                  <a:srgbClr val="232A37"/>
                </a:solidFill>
                <a:latin typeface="Microsoft YaHei"/>
              </a:defRPr>
            </a:pPr>
            <a:r>
              <a:rPr sz="1400"/>
              <a:t>时延、成功率、丢包率、吞吐量、上传周期、稳定时间等指标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463040"/>
            <a:ext cx="1965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98664" y="1691640"/>
            <a:ext cx="178308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E76F51"/>
                </a:solidFill>
                <a:latin typeface="Microsoft YaHei"/>
              </a:defRPr>
            </a:pPr>
            <a:r>
              <a:t>约束条件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240280"/>
            <a:ext cx="1691640" cy="963341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220" b="0">
                <a:solidFill>
                  <a:srgbClr val="232A37"/>
                </a:solidFill>
                <a:latin typeface="Microsoft YaHei"/>
              </a:defRPr>
            </a:pPr>
            <a:r>
              <a:rPr sz="1400"/>
              <a:t>成本、功耗、距离、安全、网络环境、部署难度、维护性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1512" y="1463040"/>
            <a:ext cx="1965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2952" y="1691640"/>
            <a:ext cx="178308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CC4951"/>
                </a:solidFill>
                <a:latin typeface="Microsoft YaHei"/>
              </a:defRPr>
            </a:pPr>
            <a:r>
              <a:t>验证指标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2240280"/>
            <a:ext cx="1691640" cy="963341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220" b="0">
                <a:solidFill>
                  <a:srgbClr val="232A37"/>
                </a:solidFill>
                <a:latin typeface="Microsoft YaHei"/>
              </a:defRPr>
            </a:pPr>
            <a:r>
              <a:rPr sz="1400"/>
              <a:t>用测试数据、抓包、日志、截图或仿真结果证明达成情况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715000"/>
            <a:ext cx="10607040" cy="502920"/>
          </a:xfrm>
          <a:prstGeom prst="roundRect">
            <a:avLst/>
          </a:prstGeom>
          <a:solidFill>
            <a:srgbClr val="E4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避免写成“完成某功能”式要求，应写清楚“为什么需要、达到什么程度、如何验证”。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系统总体方案设计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第4/5个工作日检查的核心内容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514600"/>
            <a:ext cx="2286000" cy="685800"/>
          </a:xfrm>
          <a:prstGeom prst="round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总体方案</a:t>
            </a:r>
          </a:p>
        </p:txBody>
      </p:sp>
      <p:cxnSp>
        <p:nvCxnSpPr>
          <p:cNvPr id="9" name="Connector 8"/>
          <p:cNvCxnSpPr>
            <a:stCxn id="8" idx="0"/>
          </p:cNvCxnSpPr>
          <p:nvPr/>
        </p:nvCxnSpPr>
        <p:spPr>
          <a:xfrm flipH="1" flipV="1">
            <a:off x="2560320" y="1920240"/>
            <a:ext cx="3474720" cy="594360"/>
          </a:xfrm>
          <a:prstGeom prst="line">
            <a:avLst/>
          </a:prstGeom>
          <a:ln w="25400">
            <a:solidFill>
              <a:srgbClr val="BE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8" idx="0"/>
          </p:cNvCxnSpPr>
          <p:nvPr/>
        </p:nvCxnSpPr>
        <p:spPr>
          <a:xfrm flipV="1">
            <a:off x="6035040" y="1920240"/>
            <a:ext cx="3794760" cy="594360"/>
          </a:xfrm>
          <a:prstGeom prst="line">
            <a:avLst/>
          </a:prstGeom>
          <a:ln w="25400">
            <a:solidFill>
              <a:srgbClr val="BE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8" idx="2"/>
          </p:cNvCxnSpPr>
          <p:nvPr/>
        </p:nvCxnSpPr>
        <p:spPr>
          <a:xfrm flipH="1">
            <a:off x="2560320" y="3200400"/>
            <a:ext cx="3474720" cy="1508759"/>
          </a:xfrm>
          <a:prstGeom prst="line">
            <a:avLst/>
          </a:prstGeom>
          <a:ln w="25400">
            <a:solidFill>
              <a:srgbClr val="BE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2"/>
          </p:cNvCxnSpPr>
          <p:nvPr/>
        </p:nvCxnSpPr>
        <p:spPr>
          <a:xfrm>
            <a:off x="6035040" y="3200400"/>
            <a:ext cx="3794760" cy="1508759"/>
          </a:xfrm>
          <a:prstGeom prst="line">
            <a:avLst/>
          </a:prstGeom>
          <a:ln w="25400">
            <a:solidFill>
              <a:srgbClr val="BE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1417320"/>
            <a:ext cx="32004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1417320"/>
            <a:ext cx="320040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1581912"/>
            <a:ext cx="28712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硬件/仿真节点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1984248"/>
            <a:ext cx="2871216" cy="57607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开发板、PC、路由器、交换机、服务器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2004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20040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581912"/>
            <a:ext cx="28712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软件模块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84248"/>
            <a:ext cx="2871216" cy="57607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采集、处理、通信、服务端、界面、异常处理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206240"/>
            <a:ext cx="32004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0120" y="4206240"/>
            <a:ext cx="3200400" cy="73152"/>
          </a:xfrm>
          <a:prstGeom prst="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4370831"/>
            <a:ext cx="28712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网络连接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4773168"/>
            <a:ext cx="2871216" cy="238527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rPr dirty="0"/>
              <a:t>Wi-Fi、以太网、蓝牙、</a:t>
            </a:r>
            <a:r>
              <a:rPr dirty="0" smtClean="0"/>
              <a:t>LoRa、VLAN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32004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206240"/>
            <a:ext cx="320040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4370831"/>
            <a:ext cx="28712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数据流向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773168"/>
            <a:ext cx="2871216" cy="57607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设备→网关→服务器→显示/查询/控制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149840" cy="45720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0">
                <a:solidFill>
                  <a:srgbClr val="5F6978"/>
                </a:solidFill>
                <a:latin typeface="Microsoft YaHei"/>
              </a:defRPr>
            </a:pPr>
            <a:r>
              <a:t>总体设计应说明“模块之间怎样连接、数据怎样流动、关键接口是什么”，不能只罗列器件或代码。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通信协议与数据格式设计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突出本课程的“网络与协议”特征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3375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333756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30083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协议选择要回答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84248"/>
            <a:ext cx="3008376" cy="37307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选用什么协议/技术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为什么适合本题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与替代方案相比的优缺点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异常情况下如何处理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33756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581912"/>
            <a:ext cx="30083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数据格式要包含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84248"/>
            <a:ext cx="3008376" cy="37307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设备编号 / 节点编号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数据类型 / 命令类型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时间戳 / 序号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长度 / 状态码 / 校验字段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载荷内容与返回结果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33756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581912"/>
            <a:ext cx="300837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网络分层要说明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84248"/>
            <a:ext cx="3008376" cy="37307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应用层：HTTP、MQTT、自定义协议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传输层：TCP/UDP 与端口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网络层：IP、子网、路由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链路层：Wi-Fi、蓝牙、以太网、LoRa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物理层：开发板、传感器、线路/无线信号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测试验证：用数据证明设计有效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测试结果应能支撑需求指标与工程分析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342900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3619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功能测试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38528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基本功能是否实现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79" y="1371600"/>
            <a:ext cx="342900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1" y="153619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连通性测试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1" y="1938528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终端/服务器/网络节点是否通信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19" y="1371600"/>
            <a:ext cx="3429000" cy="73152"/>
          </a:xfrm>
          <a:prstGeom prst="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1" y="153619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协议测试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938528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数据格式、接口、报文是否正确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0896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108960"/>
            <a:ext cx="3429000" cy="7315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2735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性能测试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75887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时延、吞吐量、丢包率、成功率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310896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79" y="3108960"/>
            <a:ext cx="342900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1" y="32735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异常测试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1" y="3675887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断网、掉线、非法数据、服务器异常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310896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19" y="3108960"/>
            <a:ext cx="3429000" cy="73152"/>
          </a:xfrm>
          <a:prstGeom prst="rect">
            <a:avLst/>
          </a:prstGeom>
          <a:solidFill>
            <a:srgbClr val="CC4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1" y="3273552"/>
            <a:ext cx="309981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稳定性测试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1" y="3675887"/>
            <a:ext cx="3099816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连续运行后的可靠性表现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257800"/>
            <a:ext cx="10469880" cy="594360"/>
          </a:xfrm>
          <a:prstGeom prst="roundRect">
            <a:avLst/>
          </a:prstGeom>
          <a:solidFill>
            <a:srgbClr val="E4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700" b="1">
                <a:solidFill>
                  <a:srgbClr val="142D50"/>
                </a:solidFill>
                <a:latin typeface="Microsoft YaHei"/>
              </a:defRPr>
            </a:pPr>
            <a:r>
              <a:t>推荐证据：Wireshark 抓包、Postman / MQTTX 测试、PacketTracer 仿真结果、服务器日志、串口日志、测试数据表、运行截图。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工程认证导向：从“结果展示”到“设计论证”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重点体现复杂工程问题意识、约束分析与持续改进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27048"/>
            <a:ext cx="914400" cy="256032"/>
          </a:xfrm>
          <a:prstGeom prst="round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17320"/>
            <a:ext cx="2377440" cy="347472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复杂工程问题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417320"/>
            <a:ext cx="6766560" cy="38404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0">
                <a:solidFill>
                  <a:srgbClr val="232A37"/>
                </a:solidFill>
                <a:latin typeface="Microsoft YaHei"/>
              </a:defRPr>
            </a:pPr>
            <a:r>
              <a:t>场景真实、有多因素约束，不是单一功能演示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0048"/>
            <a:ext cx="91440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60320"/>
            <a:ext cx="2377440" cy="347472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设计依据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560320"/>
            <a:ext cx="6766560" cy="38404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0">
                <a:solidFill>
                  <a:srgbClr val="232A37"/>
                </a:solidFill>
                <a:latin typeface="Microsoft YaHei"/>
              </a:defRPr>
            </a:pPr>
            <a:r>
              <a:t>方案选择有比较、有理由、有指标支撑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13048"/>
            <a:ext cx="914400" cy="25603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03320"/>
            <a:ext cx="2377440" cy="347472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约束权衡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03320"/>
            <a:ext cx="6766560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0">
                <a:solidFill>
                  <a:srgbClr val="232A37"/>
                </a:solidFill>
                <a:latin typeface="Microsoft YaHei"/>
              </a:defRPr>
            </a:pPr>
            <a:r>
              <a:rPr dirty="0"/>
              <a:t>考虑实时性、可靠性、安全性、成本、功耗、</a:t>
            </a:r>
            <a:r>
              <a:rPr dirty="0" smtClean="0"/>
              <a:t>扩展性</a:t>
            </a:r>
            <a:r>
              <a:rPr lang="zh-CN" altLang="en-US" dirty="0"/>
              <a:t>等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22960" y="4956048"/>
            <a:ext cx="914400" cy="256032"/>
          </a:xfrm>
          <a:prstGeom prst="round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846320"/>
            <a:ext cx="2377440" cy="347472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800" b="1">
                <a:solidFill>
                  <a:srgbClr val="142D50"/>
                </a:solidFill>
                <a:latin typeface="Microsoft YaHei"/>
              </a:defRPr>
            </a:pPr>
            <a:r>
              <a:t>证据链完整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846320"/>
            <a:ext cx="6766560" cy="38404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0">
                <a:solidFill>
                  <a:srgbClr val="232A37"/>
                </a:solidFill>
                <a:latin typeface="Microsoft YaHei"/>
              </a:defRPr>
            </a:pPr>
            <a:r>
              <a:t>需求—设计—实现—测试—分析—改进相互对应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897880"/>
            <a:ext cx="10469880" cy="411480"/>
          </a:xfrm>
          <a:prstGeom prst="round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答辩时建议重点讲清楚：需求指标如何确定、方案为什么这样选、测试数据说明了什么、系统还可以如何改进。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D50"/>
                </a:solidFill>
                <a:latin typeface="Microsoft YaHei"/>
              </a:defRPr>
            </a:pPr>
            <a:r>
              <a:t>统一提交成果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Microsoft YaHei"/>
              </a:defRPr>
            </a:pPr>
            <a:r>
              <a:t>四类基本材料 + 与题目相关的附件证据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92024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Microsoft YaHei"/>
              </a:defRPr>
            </a:pPr>
            <a:r>
              <a:t>《数据通信与网络技术》课程设计任务书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>
              <a:defRPr sz="800">
                <a:solidFill>
                  <a:srgbClr val="5F6978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25146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251460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667A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178308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dirty="0"/>
              <a:t>课程设计报告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984248"/>
            <a:ext cx="2185416" cy="2221991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按统一章节结构撰写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重点：需求、设计、协议、测试、工程分析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417320"/>
            <a:ext cx="25146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417320"/>
            <a:ext cx="251460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581912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6" y="1609344"/>
            <a:ext cx="2148838" cy="347788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dirty="0"/>
              <a:t>完整代码/仿真文件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1984248"/>
            <a:ext cx="2185416" cy="2221991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硬件端、服务器端、上位机、网页或 PT 文件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代码有必要注释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5146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251460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581912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E76F51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09344"/>
            <a:ext cx="178308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dirty="0"/>
              <a:t>汇报 PPT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984248"/>
            <a:ext cx="2185416" cy="2221991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展示设计思路、结构、协议方案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突出测试结果与改进方向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17320"/>
            <a:ext cx="25146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1417320"/>
            <a:ext cx="2514600" cy="73152"/>
          </a:xfrm>
          <a:prstGeom prst="rect">
            <a:avLst/>
          </a:prstGeom>
          <a:solidFill>
            <a:srgbClr val="6F5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581912"/>
            <a:ext cx="457200" cy="41148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6F5AB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627632"/>
            <a:ext cx="1783080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rPr dirty="0"/>
              <a:t>课程设计日志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1984248"/>
            <a:ext cx="2185416" cy="2221991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记录分工、每日工作、问题和解决方法</a:t>
            </a:r>
          </a:p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体现个人贡献与过程成果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57800"/>
            <a:ext cx="10469880" cy="594360"/>
          </a:xfrm>
          <a:prstGeom prst="roundRect">
            <a:avLst/>
          </a:prstGeom>
          <a:solidFill>
            <a:srgbClr val="E4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t"/>
          <a:lstStyle/>
          <a:p>
            <a:pPr algn="ctr">
              <a:defRPr sz="1700" b="1">
                <a:solidFill>
                  <a:srgbClr val="142D50"/>
                </a:solidFill>
                <a:latin typeface="Microsoft YaHei"/>
              </a:defRPr>
            </a:pPr>
            <a:r>
              <a:t>附件视题目提交：抓包 pcap、测试数据表、拓扑图、VLAN/IP 规划表、API 接口说明、硬件连接图、运行截图等。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 smtClean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</a:t>
            </a:r>
            <a:r>
              <a:rPr lang="en-US" sz="2600" b="1" dirty="0" smtClean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用一条主线覆盖三类课程设计题目。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8F1F7"/>
          </a:solidFill>
          <a:ln w="12700">
            <a:solidFill>
              <a:srgbClr val="2F6B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写清做什么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2044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8F1F7"/>
          </a:solidFill>
          <a:ln w="12700">
            <a:solidFill>
              <a:srgbClr val="2F6B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需求与指标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明确验收标准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8F1F7"/>
          </a:solidFill>
          <a:ln w="12700">
            <a:solidFill>
              <a:srgbClr val="2F6B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说明怎么设计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8972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8F1F7"/>
          </a:solidFill>
          <a:ln w="12700">
            <a:solidFill>
              <a:srgbClr val="2F6B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8408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0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突出课程知识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7033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7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实现配置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说明如何落地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37033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7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480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0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用数据验证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37033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7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1384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944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工程改进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440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体现工程意识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89720" y="37033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7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6024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8408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总结资料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84080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沉淀收获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" y="5897880"/>
            <a:ext cx="105156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建议报告不超过“大而全”的16章，改用8章结构；每章内部根据题目类型调整侧重点。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750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第1—3章：从任务到方案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先把问题说清楚，再给出总体技术路线。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E8F1F7"/>
          </a:solidFill>
          <a:ln w="12700">
            <a:solidFill>
              <a:srgbClr val="E8F1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设计背景与任务分析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587752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说明应用场景、现实意义、课程关联、主要任务与需要解决的问题。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需求分析与设计指标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0288" y="2587752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明确功能需求、性能需求、工程约束和测试评价指标，避免只写“实现某功能”。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3E5"/>
          </a:solidFill>
          <a:ln w="12700">
            <a:solidFill>
              <a:srgbClr val="FFF3E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总体方案设计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47888" y="2587752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给出系统结构、网络拓扑、模块/区域划分、数据流向、设备组成和技术路线。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本部分体现：是否真正理解题目、是否形成“先设计后实现”的工程思路。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4587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第4—5章：从技术到实现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突出课程特色：协议、网络机制、配置与调试过程。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E8F1F7"/>
          </a:solidFill>
          <a:ln w="12700">
            <a:solidFill>
              <a:srgbClr val="E8F1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581912"/>
            <a:ext cx="43525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关键技术与协议设计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1288" y="2304288"/>
            <a:ext cx="4352544" cy="3538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写清采用的通信协议或网络技术、选择理由、替代方案比较、数据格式/接口/地址规划，以及网络分层和关键机制分析。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581912"/>
            <a:ext cx="43525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实现过程与关键配置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47688" y="2304288"/>
            <a:ext cx="4352544" cy="3538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根据题目类型写程序实现、设备配置、仿真配置或硬件连接；说明关键代码、关键参数、调试过程和问题解决。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注意：本章不要求所有题目都写代码。企业网络规划题可重点写关键配置；协议分析题可重点写实验参数与抓包位置。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2345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第6—8章：从验证到反思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测试要有数据，分析要有工程判断。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E8F1F7"/>
          </a:solidFill>
          <a:ln w="12700">
            <a:solidFill>
              <a:srgbClr val="E8F1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测试方案与结果分析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642616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说明测试环境、测试项目、测试步骤和测试数据；用截图、日志、抓包或仿真结果支撑结论。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工程分析与改进方向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0288" y="2642616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从实时性、可靠性、安全性、成本、可维护性、可扩展性等角度分析不足并提出改进。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3E5"/>
          </a:solidFill>
          <a:ln w="12700">
            <a:solidFill>
              <a:srgbClr val="FFF3E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581912"/>
            <a:ext cx="298094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总结与参考资料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47888" y="2642616"/>
            <a:ext cx="2980944" cy="3447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总结完成内容、使用的协议/技术/工具、课程知识应用、设计收获和资料来源。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建议尽量量化：时延、丢包率、吞吐量、收敛时间、RTT、成功率、发现时间、消息到达率等。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5023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三类题目的章节侧重点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统一结构下，允许学生按题目特点调整内容。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题目类型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重点写法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095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典型证据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892808"/>
            <a:ext cx="107442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21408"/>
            <a:ext cx="1554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协议分析类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121408"/>
            <a:ext cx="4663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协议机制、实验拓扑、配置过程、抓包位置、故障仿真、性能对比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9560" y="2121408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 抓包、收敛时间、吞吐量、RTT、时序图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035808"/>
            <a:ext cx="10744200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00400"/>
            <a:ext cx="1554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企业网络规划类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4663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业务需求、网络分区、拓扑架构、VLAN/IP、路由策略、安全策略、连通性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3200400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 文件、规划表、配置截图、测试记录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114800"/>
            <a:ext cx="10744200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79392"/>
            <a:ext cx="1554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硬件网络应用类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4279392"/>
            <a:ext cx="4663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节点组成、通信协议、数据格式、程序流程、异常处理、系统联调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4279392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代码、运行截图、日志、抓包、测试数据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193792"/>
            <a:ext cx="10744200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写作原则：章节名称统一，章节内容灵活；围绕“设计依据、实现过程、测试证据、工程分析”展开。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6843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7315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学生写作检查清单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用这5项判断报告是否体现工程认证导向。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《数据通信与网络技术》课程设计报告结构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20040" cy="320040"/>
          </a:xfrm>
          <a:prstGeom prst="rect">
            <a:avLst/>
          </a:prstGeom>
          <a:solidFill>
            <a:srgbClr val="2F6B9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325880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需求是否具体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325880"/>
            <a:ext cx="7269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是否写清应用场景、功能需求、性能指标和约束条件？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221992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方案是否成体系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221992"/>
            <a:ext cx="7269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是否有结构图/拓扑图、模块划分和数据流向？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136392"/>
            <a:ext cx="320040" cy="320040"/>
          </a:xfrm>
          <a:prstGeom prst="rect">
            <a:avLst/>
          </a:prstGeom>
          <a:solidFill>
            <a:srgbClr val="2F6B9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18104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协议是否有依据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118104"/>
            <a:ext cx="7269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是否解释协议或网络技术选择理由，并有替代方案比较？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320040" cy="32004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测试是否有证据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4014216"/>
            <a:ext cx="7269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是否用抓包、日志、表格、截图或仿真结果支撑结论？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928616"/>
            <a:ext cx="320040" cy="320040"/>
          </a:xfrm>
          <a:prstGeom prst="rect">
            <a:avLst/>
          </a:prstGeom>
          <a:solidFill>
            <a:srgbClr val="2F6B9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910328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分析是否工程化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910328"/>
            <a:ext cx="7269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是否讨论可靠性、安全性、实时性、成本、维护和扩展？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6080760"/>
            <a:ext cx="10652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4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核心评价不是“有没有做出来”，而是“需求是否清楚、方案是否合理、验证是否充分、分析是否有工程判断”。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5904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B"/>
          </a:solidFill>
          <a:ln w="12700">
            <a:solidFill>
              <a:srgbClr val="EE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B1F33"/>
                </a:solidFill>
              </a:rPr>
              <a:t>课程设计答辩要求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PPT制作 · 10分钟汇报 · 10分钟系统演示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7063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F6C7B"/>
                </a:solidFill>
              </a:rPr>
              <a:t>适用于《数据通信与网络技术》课程设计三类题目：协议分析仿真、企业网络规划、硬件网络应用。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0" y="141732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8105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3"/>
                </a:solidFill>
              </a:rPr>
              <a:t>20分钟/组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0" y="2542032"/>
            <a:ext cx="2103120" cy="0"/>
          </a:xfrm>
          <a:prstGeom prst="line">
            <a:avLst/>
          </a:prstGeom>
          <a:noFill/>
          <a:ln w="17780">
            <a:solidFill>
              <a:srgbClr val="E9E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78892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10分钟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PPT汇报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98280" y="2999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F6C7B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09760" y="278892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</a:rPr>
              <a:t>10分钟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</a:rPr>
              <a:t>系统演示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4023360" cy="347472"/>
          </a:xfrm>
          <a:prstGeom prst="roundRect">
            <a:avLst>
              <a:gd name="adj" fmla="val 2105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9252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突出设计依据、工程验证和实际效果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3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答辩总体安排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每组20分钟：前10分钟讲清楚设计，后10分钟证明系统可运行、可验证。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206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417320"/>
            <a:ext cx="51206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PPT汇报 10分钟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420624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• 讲清楚题目背景与工程需求
• 说明总体方案、协议/拓扑/数据格式
• 展示实现过程、测试数据与工程分析
• 突出小组分工、问题解决和改进方向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</a:rPr>
              <a:t>系统演示 10分钟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2423160"/>
            <a:ext cx="420624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• 按预设流程完成核心功能演示
• 展示真实运行、仿真结果、抓包或日志
• 说明测试结果与异常处理效果
• 教师可针对关键功能提问或指定演示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9253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5757"/>
                </a:solidFill>
              </a:rPr>
              <a:t>答辩重点不是“做了什么”，而是“为什么这样设计、如何验证有效、还有哪些不足”。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5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PPT制作基本要求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建议控制在8—10页，结构简洁、证据充分、图表优先。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24028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288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结构清楚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1783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• 围绕“需求—方案—实现—测试—分析”展开
• 每页只讲一个中心问题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508760"/>
            <a:ext cx="2240280" cy="4206240"/>
          </a:xfrm>
          <a:prstGeom prst="roundRect">
            <a:avLst>
              <a:gd name="adj" fmla="val 5714"/>
            </a:avLst>
          </a:prstGeom>
          <a:solidFill>
            <a:srgbClr val="FDFE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6472" y="18288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重点突出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2487168"/>
            <a:ext cx="1783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• 少讲背景，多讲设计依据和技术选择
• 突出工程需求、协议机制、测试指标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508760"/>
            <a:ext cx="224028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8288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</a:rPr>
              <a:t>证据充分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487168"/>
            <a:ext cx="1783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• 用拓扑图、流程图、抓包图、测试表支撑结论
• 避免只有运行截图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464040" y="1508760"/>
            <a:ext cx="2240280" cy="4206240"/>
          </a:xfrm>
          <a:prstGeom prst="roundRect">
            <a:avLst>
              <a:gd name="adj" fmla="val 5714"/>
            </a:avLst>
          </a:prstGeom>
          <a:solidFill>
            <a:srgbClr val="FDFE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8632" y="18288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表达规范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2487168"/>
            <a:ext cx="1783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• 字体清晰、图表编号、术语准确
• 不堆砌代码，不大段复制报告文字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5943600"/>
            <a:ext cx="65836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368" y="6021324"/>
            <a:ext cx="6364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建议页数：8—10页；建议字号：标题≥28pt，正文≥18pt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4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10分钟PPT大纲建议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按时间推进，保证“讲得完、讲得清、讲得有证据”。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642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17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序号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517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5179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时间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5179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汇报重点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11064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1168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01168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题目与任务理解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0.5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956816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应用场景、要解决的问题、完成目标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450592"/>
            <a:ext cx="11064240" cy="576072"/>
          </a:xfrm>
          <a:prstGeom prst="rect">
            <a:avLst/>
          </a:prstGeom>
          <a:solidFill>
            <a:srgbClr val="F5F9FC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5877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258775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需求分析与设计指标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1.0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587752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功能需求、性能指标、工程约束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026664"/>
            <a:ext cx="11064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16382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316382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总体方案设计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31638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2.0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163824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系统结构/网络拓扑、模块划分、数据流向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602736"/>
            <a:ext cx="11064240" cy="576072"/>
          </a:xfrm>
          <a:prstGeom prst="rect">
            <a:avLst/>
          </a:prstGeom>
          <a:solidFill>
            <a:srgbClr val="F5F9FC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73989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373989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关键技术与协议设计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73989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2.0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739896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协议选择、地址/VLAN/帧/API/主题设计、分层分析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178808"/>
            <a:ext cx="11064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31596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61872" y="431596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实现过程与关键配置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0712" y="43159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1.5 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4315968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关键代码、设备配置、仿真设置或硬件连接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4754880"/>
            <a:ext cx="11064240" cy="576072"/>
          </a:xfrm>
          <a:prstGeom prst="rect">
            <a:avLst/>
          </a:prstGeom>
          <a:solidFill>
            <a:srgbClr val="F5F9FC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89204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61872" y="48920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测试结果与工程分析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10712" y="48920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2.0 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35040" y="4892040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功能/性能/异常测试，问题与改进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4360" y="5330952"/>
            <a:ext cx="11064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546811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61872" y="546811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总结与演示引入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10712" y="54681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994A"/>
                </a:solidFill>
              </a:rPr>
              <a:t>1.0 min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35040" y="5468112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02C"/>
                </a:solidFill>
              </a:rPr>
              <a:t>成果概括、演示路线、需要重点看的功能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7724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C7B"/>
                </a:solidFill>
              </a:rPr>
              <a:t>注：不同题目可调整侧重点，但不建议删除“需求、方案、协议/网络机制、测试分析”。</a:t>
            </a:r>
            <a:endParaRPr lang="en-US" sz="13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2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三类题目的PPT侧重点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同一套汇报框架，不同题目突出不同证据。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246120" cy="443484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协议分析与仿真实验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" y="2514600"/>
            <a:ext cx="274320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202C"/>
                </a:solidFill>
              </a:rPr>
              <a:t>• 实验拓扑与协议配置
• 抓包位置与报文解析
• 故障仿真与性能对比
• 收敛时间、吞吐量、RTT、丢包率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246120" cy="443484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企业级网络规划与PT仿真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274320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202C"/>
                </a:solidFill>
              </a:rPr>
              <a:t>• 业务场景与网络需求
• 拓扑、VLAN/IP、路由与安全策略
• 服务器、出口、无线、VPN部署
• 连通性、隔离性、切换和权限测试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7576" y="1417320"/>
            <a:ext cx="3246120" cy="443484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6176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994A"/>
                </a:solidFill>
              </a:rPr>
              <a:t>硬件网络应用系统设计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93608" y="2514600"/>
            <a:ext cx="274320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202C"/>
                </a:solidFill>
              </a:rPr>
              <a:t>• 硬件节点与服务器关系
• 协议选择、数据格式或帧结构
• 程序流程与通信实现
• 上传成功率、响应时延、异常恢复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68880" y="6099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共同要求：图表化表达、数据化验证、工程化分析。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演示要求：10分钟证明系统有效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演示要有路线、有证据、有备份，避免现场临时调试。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41732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必须展示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45262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• 提前准备环境：开发板、网络、服务器、仿真文件、抓包工具
• 演示核心链路：输入/触发 → 通信过程 → 服务器/终端结果
• 展示测试证据：日志、抓包、测试表、仿真连通性或性能数据
• 说明异常情况：断网、非法数据、设备离线、链路故障等处理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94A"/>
                </a:solidFill>
              </a:rPr>
              <a:t>注意事项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45262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• 提前打开必要软件和文件，减少等待时间
• 演示过程按脚本执行，避免随意操作
• 关键结果要能复现，不能只展示静态截图
• 准备备用方案：录屏、截图、备份设备或本地数据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6016752"/>
            <a:ext cx="9098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6094476"/>
            <a:ext cx="8878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建议演示顺序：启动系统 → 输入测试 → 查看通信 → 展示结果 → 说明异常与改进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0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演示内容建议模板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按“场景—操作—结果—证据—说明”组织，教师更容易判断完成度。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81912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916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81328" y="1801368"/>
            <a:ext cx="594360" cy="0"/>
          </a:xfrm>
          <a:prstGeom prst="line">
            <a:avLst/>
          </a:prstGeom>
          <a:noFill/>
          <a:ln w="17780">
            <a:solidFill>
              <a:srgbClr val="B5C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490472"/>
            <a:ext cx="90068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65506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场景说明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1655064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说明当前演示对应哪项需求或测试指标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328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81328" y="2642616"/>
            <a:ext cx="594360" cy="0"/>
          </a:xfrm>
          <a:prstGeom prst="line">
            <a:avLst/>
          </a:prstGeom>
          <a:noFill/>
          <a:ln w="17780">
            <a:solidFill>
              <a:srgbClr val="B5C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2331720"/>
            <a:ext cx="9006840" cy="640080"/>
          </a:xfrm>
          <a:prstGeom prst="roundRect">
            <a:avLst>
              <a:gd name="adj" fmla="val 20000"/>
            </a:avLst>
          </a:prstGeom>
          <a:solidFill>
            <a:srgbClr val="F8FBFE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4963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操作触发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2496312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输入数据、改变状态、模拟故障或执行仿真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26440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7413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81328" y="3483864"/>
            <a:ext cx="594360" cy="0"/>
          </a:xfrm>
          <a:prstGeom prst="line">
            <a:avLst/>
          </a:prstGeom>
          <a:noFill/>
          <a:ln w="17780">
            <a:solidFill>
              <a:srgbClr val="B5C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3172968"/>
            <a:ext cx="90068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3375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通信过程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51960" y="3337560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展示抓包、日志、主题消息、API请求或路由变化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105656"/>
            <a:ext cx="438912" cy="43891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21538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81328" y="4325112"/>
            <a:ext cx="594360" cy="0"/>
          </a:xfrm>
          <a:prstGeom prst="line">
            <a:avLst/>
          </a:prstGeom>
          <a:noFill/>
          <a:ln w="17780">
            <a:solidFill>
              <a:srgbClr val="B5C4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4014216"/>
            <a:ext cx="9006840" cy="640080"/>
          </a:xfrm>
          <a:prstGeom prst="roundRect">
            <a:avLst>
              <a:gd name="adj" fmla="val 20000"/>
            </a:avLst>
          </a:prstGeom>
          <a:solidFill>
            <a:srgbClr val="F8FBFE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41788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结果验证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51960" y="4178808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查看页面、服务器记录、设备状态、连通性或测试表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4946904"/>
            <a:ext cx="438912" cy="43891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505663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81328" y="5166360"/>
            <a:ext cx="594360" cy="0"/>
          </a:xfrm>
          <a:prstGeom prst="line">
            <a:avLst/>
          </a:prstGeom>
          <a:noFill/>
          <a:ln w="17780">
            <a:solidFill>
              <a:srgbClr val="B5C4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855464"/>
            <a:ext cx="90068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502005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问题分析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51960" y="5020056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</a:rPr>
              <a:t>说明误差、异常、限制条件和改进方案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720" y="6053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B5757"/>
                </a:solidFill>
              </a:rPr>
              <a:t>10分钟演示不宜展示所有细节，应优先展示“最能证明设计达成目标”的核心功能。</a:t>
            </a:r>
            <a:endParaRPr lang="en-US" sz="15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6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提交与答辩检查清单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答辩前按清单逐项检查，确保汇报、演示和材料一致。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27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4533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PPT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08960" y="154533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8—10页，10分钟内讲完；图表清晰，突出需求、方案、测试和工程分析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1097280" y="1984248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85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2037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报告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108960" y="22037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8章结构完整；需求、总体方案、关键技术、测试分析和工程约束充分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1097280" y="2642616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437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8620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代码/配置/仿真文件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108960" y="28620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可运行、可复现；关键代码或配置与报告说明一致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1097280" y="3300984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02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测试证据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108960" y="35204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测试表、截图、抓包、日志、仿真结果或视频备份齐全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1097280" y="3959352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41788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课程设计日志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108960" y="41788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记录分工、每日工作、问题解决和阶段成果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1097280" y="4617720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188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9"/>
                </a:solidFill>
              </a:rPr>
              <a:t>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837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演示环境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108960" y="483717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A202C"/>
                </a:solidFill>
              </a:rPr>
              <a:t>提前调试网络、设备、电源、软件、端口、账号和备份方案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1097280" y="5276088"/>
            <a:ext cx="10012680" cy="0"/>
          </a:xfrm>
          <a:prstGeom prst="line">
            <a:avLst/>
          </a:prstGeom>
          <a:noFill/>
          <a:ln w="7620">
            <a:solidFill>
              <a:srgbClr val="E0E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5897880"/>
            <a:ext cx="7680960" cy="347472"/>
          </a:xfrm>
          <a:prstGeom prst="roundRect">
            <a:avLst>
              <a:gd name="adj" fmla="val 21053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5975604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答辩前至少完整演练1遍：计时、切换、演示、提问预案</a:t>
            </a:r>
            <a:endParaRPr lang="en-US" sz="9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4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常见扣分点与改进建议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C7B"/>
                </a:solidFill>
              </a:rPr>
              <a:t>避免“看起来完成了”，但无法体现课程设计与工程认证要求。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4343400"/>
          </a:xfrm>
          <a:prstGeom prst="roundRect">
            <a:avLst>
              <a:gd name="adj" fmla="val 2947"/>
            </a:avLst>
          </a:prstGeom>
          <a:solidFill>
            <a:srgbClr val="FFF8F1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417320"/>
            <a:ext cx="5257800" cy="4343400"/>
          </a:xfrm>
          <a:prstGeom prst="roundRect">
            <a:avLst>
              <a:gd name="adj" fmla="val 2947"/>
            </a:avLst>
          </a:prstGeom>
          <a:solidFill>
            <a:srgbClr val="F1FAF5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B5757"/>
                </a:solidFill>
              </a:rPr>
              <a:t>常见问题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43891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• PPT照搬报告，文字过多
• 只有截图，没有测试数据或抓包证据
• 只讲实现，不讲需求、指标和选择依据
• 演示过程不稳定，现场临时调试
• 工程约束分析空泛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</a:rPr>
              <a:t>改进方向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3891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• 每页只保留一个核心结论
• 用数据表、拓扑图、抓包图证明结果
• 明确“需求—方案—验证”的对应关系
• 演示前固定流程并准备备份
• 结合可靠性、安全性、可扩展性分析不足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答辩目标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BFA"/>
                </a:solidFill>
              </a:rPr>
              <a:t>让教师在20分钟内清楚看到：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487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D8FF"/>
                </a:solidFill>
              </a:rPr>
              <a:t>1. 需求是否明确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990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D8FF"/>
                </a:solidFill>
              </a:rPr>
              <a:t>2. 方案是否合理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493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9A"/>
                </a:solidFill>
              </a:rPr>
              <a:t>3. 实现是否完整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995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9A"/>
                </a:solidFill>
              </a:rPr>
              <a:t>4. 测试是否充分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4498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6F2C8"/>
                </a:solidFill>
              </a:rPr>
              <a:t>5. 分析是否有工程意识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1143000"/>
            <a:ext cx="448056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F33"/>
                </a:solidFill>
              </a:rPr>
              <a:t>汇报关键词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60920" y="23317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需求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方案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协议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实现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测试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工程分析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20分钟展示一个可解释、可验证、可改进的工程设计。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0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5486400" cy="5486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课程设计最终要求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9921240" cy="77724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2200" b="1">
                <a:solidFill>
                  <a:srgbClr val="DCEBFA"/>
                </a:solidFill>
                <a:latin typeface="Microsoft YaHei"/>
              </a:defRPr>
            </a:pPr>
            <a:r>
              <a:t>做出系统，更要讲清楚系统为什么这样设计、如何证明有效、还有哪些工程改进空间。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063240"/>
            <a:ext cx="324612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3063240"/>
            <a:ext cx="3246120" cy="73152"/>
          </a:xfrm>
          <a:prstGeom prst="rect">
            <a:avLst/>
          </a:prstGeom>
          <a:solidFill>
            <a:srgbClr val="26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3227832"/>
            <a:ext cx="291693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需求清楚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630168"/>
            <a:ext cx="2916936" cy="9875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有场景、有指标、有约束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3063240"/>
            <a:ext cx="324612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3063240"/>
            <a:ext cx="324612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3751" y="3227832"/>
            <a:ext cx="291693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设计完整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1" y="3630168"/>
            <a:ext cx="2916936" cy="9875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有结构、有协议、有数据格式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3063240"/>
            <a:ext cx="324612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3063240"/>
            <a:ext cx="324612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3227832"/>
            <a:ext cx="2916936" cy="27432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l">
              <a:defRPr sz="1600" b="1">
                <a:solidFill>
                  <a:srgbClr val="142D50"/>
                </a:solidFill>
                <a:latin typeface="Microsoft YaHei"/>
              </a:defRPr>
            </a:pPr>
            <a:r>
              <a:t>验证充分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630168"/>
            <a:ext cx="2916936" cy="98755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A37"/>
                </a:solidFill>
                <a:latin typeface="Microsoft YaHei"/>
              </a:defRPr>
            </a:pPr>
            <a:r>
              <a:t>有测试、有数据、有改进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241280" cy="457200"/>
          </a:xfrm>
          <a:prstGeom prst="rect">
            <a:avLst/>
          </a:prstGeom>
          <a:noFill/>
        </p:spPr>
        <p:txBody>
          <a:bodyPr wrap="square" lIns="109728" tIns="54864" rIns="10972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提交材料：课程设计报告 · 完整代码/仿真文件 · 汇报PPT · 课程设计日志 · 相关测试附件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1807</Words>
  <Application>Microsoft Office PowerPoint</Application>
  <PresentationFormat>宽屏</PresentationFormat>
  <Paragraphs>505</Paragraphs>
  <Slides>30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宋体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数据通信与网络技术课程设计任务书</dc:title>
  <dc:subject>课程设计任务书 PPT</dc:subject>
  <dc:creator>ChatGPT</dc:creator>
  <cp:keywords/>
  <dc:description>generated using python-pptx</dc:description>
  <cp:lastModifiedBy>fu douban</cp:lastModifiedBy>
  <cp:revision>10</cp:revision>
  <dcterms:created xsi:type="dcterms:W3CDTF">2013-01-27T09:14:16Z</dcterms:created>
  <dcterms:modified xsi:type="dcterms:W3CDTF">2026-06-07T16:40:10Z</dcterms:modified>
  <cp:category/>
</cp:coreProperties>
</file>